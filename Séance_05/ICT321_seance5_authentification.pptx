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795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4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463040"/>
            <a:ext cx="3108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3" name="Shape 1"/>
          <p:cNvSpPr/>
          <p:nvPr/>
        </p:nvSpPr>
        <p:spPr>
          <a:xfrm>
            <a:off x="5559552" y="220370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4" name="Text 2"/>
          <p:cNvSpPr/>
          <p:nvPr/>
        </p:nvSpPr>
        <p:spPr>
          <a:xfrm>
            <a:off x="5897880" y="153619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Julie Vermot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97880" y="2366467"/>
            <a:ext cx="2468880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Comptable  |  Chronos &amp; Associés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êtes-vous 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0A526"/>
                </a:solidFill>
              </a:rPr>
              <a:t>Authentification et autorisation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7C0CE"/>
                </a:solidFill>
              </a:rPr>
              <a:t>Mandat Chronos &amp; Associés  |  Intervention n°5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7C0CE"/>
                </a:solidFill>
              </a:rPr>
              <a:t>Module ICT-321, séance du 14 septembre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</a:rPr>
              <a:t>ICT-321  |  Intervention n°5 : identités  | 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grief du jour : mission 1 de l'audit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5568"/>
                </a:solidFill>
              </a:rPr>
              <a:t>« Connectez-vous avec le nom de votre voisin. Qu'est-ce qui vous en empêche ? »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4A5568"/>
                </a:solidFill>
              </a:rPr>
              <a:t>Réponse unanime de la classe : rien.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937760" cy="1371600"/>
          </a:xfrm>
          <a:prstGeom prst="roundRect">
            <a:avLst>
              <a:gd name="adj" fmla="val 3333"/>
            </a:avLst>
          </a:prstGeom>
          <a:solidFill>
            <a:srgbClr val="232B38"/>
          </a:solidFill>
          <a:ln w="12700">
            <a:solidFill>
              <a:srgbClr val="232B38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55"/>
              </a:lnSpc>
              <a:buNone/>
            </a:pPr>
            <a:r>
              <a:rPr lang="en-US" sz="1300" dirty="0">
                <a:solidFill>
                  <a:srgbClr val="7BD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Notre « authentification » actuelle :</a:t>
            </a:r>
            <a:endParaRPr lang="en-US" sz="1300" dirty="0"/>
          </a:p>
          <a:p>
            <a:pPr marL="0" indent="0">
              <a:lnSpc>
                <a:spcPts val="1755"/>
              </a:lnSpc>
              <a:buNone/>
            </a:pPr>
            <a:r>
              <a:rPr lang="en-US" sz="13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res.setHeader('Set-Cookie',</a:t>
            </a:r>
            <a:endParaRPr lang="en-US" sz="1300" dirty="0"/>
          </a:p>
          <a:p>
            <a:pPr marL="0" indent="0">
              <a:lnSpc>
                <a:spcPts val="1755"/>
              </a:lnSpc>
              <a:buNone/>
            </a:pPr>
            <a:r>
              <a:rPr lang="en-US" sz="13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'user=' + username);</a:t>
            </a:r>
            <a:endParaRPr lang="en-US" sz="1300" dirty="0"/>
          </a:p>
          <a:p>
            <a:pPr marL="0" indent="0">
              <a:lnSpc>
                <a:spcPts val="1755"/>
              </a:lnSpc>
              <a:buNone/>
            </a:pPr>
            <a:r>
              <a:rPr lang="en-US" sz="13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et c'est tout.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182880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DEEEC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7" name="Shape 5"/>
          <p:cNvSpPr/>
          <p:nvPr/>
        </p:nvSpPr>
        <p:spPr>
          <a:xfrm>
            <a:off x="5925312" y="238658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8" name="Text 6"/>
          <p:cNvSpPr/>
          <p:nvPr/>
        </p:nvSpPr>
        <p:spPr>
          <a:xfrm>
            <a:off x="6263640" y="19019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B3372B"/>
                </a:solidFill>
              </a:rPr>
              <a:t>N'importe qui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63640" y="2542032"/>
            <a:ext cx="2286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peut se déclarer n'importe qui,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en 5 secondes, sans preuve.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1"/>
                </a:solidFill>
              </a:rPr>
              <a:t>M. Chronos : </a:t>
            </a:r>
            <a:r>
              <a:rPr lang="en-US" sz="1600" i="1" dirty="0">
                <a:solidFill>
                  <a:srgbClr val="4A5568"/>
                </a:solidFill>
              </a:rPr>
              <a:t>« Comment ça, n'importe qui peut signer la feuille d'heures de Mme Jeanneret ?! 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Objectif du jour : comprendre comment on prouve une identité dans un système distribué.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8"/>
                </a:solidFill>
              </a:rPr>
              <a:t>ICT-321  |  Intervention n°5 : identités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questions que tout système doit poser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1F5FB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4" name="Shape 2"/>
          <p:cNvSpPr/>
          <p:nvPr/>
        </p:nvSpPr>
        <p:spPr>
          <a:xfrm>
            <a:off x="621792" y="220370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Text 3"/>
          <p:cNvSpPr/>
          <p:nvPr/>
        </p:nvSpPr>
        <p:spPr>
          <a:xfrm>
            <a:off x="960120" y="1261872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Authentification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1"/>
                </a:solidFill>
              </a:rPr>
              <a:t>« Qui êtes-vous ? 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Prouver son identité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Mot de passe, badge, biométrie...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Échec -&gt; 401 Unauthorized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1F5FB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0" name="Shape 8"/>
          <p:cNvSpPr/>
          <p:nvPr/>
        </p:nvSpPr>
        <p:spPr>
          <a:xfrm>
            <a:off x="4919472" y="220370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5257800" y="1261872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Autorisation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57800" y="237744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1"/>
                </a:solidFill>
              </a:rPr>
              <a:t>« Qu'avez-vous le droit de faire ? 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57800" y="21945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Vérifier les permissions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Rôles, règles, propriété...</a:t>
            </a:r>
            <a:endParaRPr lang="en-US" sz="1300" dirty="0"/>
          </a:p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</a:rPr>
              <a:t>Échec -&gt; 403 Forbidden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L'ordre compte : </a:t>
            </a:r>
            <a:r>
              <a:rPr lang="en-US" sz="1500" dirty="0">
                <a:solidFill>
                  <a:srgbClr val="4A5568"/>
                </a:solidFill>
              </a:rPr>
              <a:t>on ne peut pas décider des droits de quelqu'un tant qu'on ne sait pas QUI il est. L'authentification vient toujours d'abord.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8"/>
                </a:solidFill>
              </a:rPr>
              <a:t>ICT-321  |  Intervention n°5 : identités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L'idée : une carte d'identité délivrée par le serveur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E0A526"/>
                </a:solidFill>
              </a:rPr>
              <a:t>1.  </a:t>
            </a:r>
            <a:r>
              <a:rPr lang="en-US" sz="1500" dirty="0">
                <a:solidFill>
                  <a:srgbClr val="4A5568"/>
                </a:solidFill>
              </a:rPr>
              <a:t>L'employé prouve son identité UNE fois (mot de passe au guichet).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E0A526"/>
                </a:solidFill>
              </a:rPr>
              <a:t>2.  </a:t>
            </a:r>
            <a:r>
              <a:rPr lang="en-US" sz="1500" dirty="0">
                <a:solidFill>
                  <a:srgbClr val="4A5568"/>
                </a:solidFill>
              </a:rPr>
              <a:t>Le serveur lui délivre une carte : le JETON (token).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E0A526"/>
                </a:solidFill>
              </a:rPr>
              <a:t>3.  </a:t>
            </a:r>
            <a:r>
              <a:rPr lang="en-US" sz="1500" dirty="0">
                <a:solidFill>
                  <a:srgbClr val="4A5568"/>
                </a:solidFill>
              </a:rPr>
              <a:t>À chaque requête, l'employé montre sa carte, pas son mot de passe.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E0A526"/>
                </a:solidFill>
              </a:rPr>
              <a:t>4.  </a:t>
            </a:r>
            <a:r>
              <a:rPr lang="en-US" sz="1500" dirty="0">
                <a:solidFill>
                  <a:srgbClr val="4A5568"/>
                </a:solidFill>
              </a:rPr>
              <a:t>Le serveur vérifie le SCEAU de la carte : infalsifiable.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234440"/>
            <a:ext cx="3108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5742432" y="206654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6" name="Text 4"/>
          <p:cNvSpPr/>
          <p:nvPr/>
        </p:nvSpPr>
        <p:spPr>
          <a:xfrm>
            <a:off x="6080760" y="130759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jvermot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80760" y="2232965"/>
            <a:ext cx="2468880" cy="8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rôle : employé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valable jusqu'à : 18h00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09560" y="2514600"/>
            <a:ext cx="548640" cy="548640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9" name="Text 7"/>
          <p:cNvSpPr/>
          <p:nvPr/>
        </p:nvSpPr>
        <p:spPr>
          <a:xfrm>
            <a:off x="79095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C2431"/>
                </a:solidFill>
              </a:rPr>
              <a:t>SCEAU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431"/>
                </a:solidFill>
              </a:rPr>
              <a:t>La question à un million : </a:t>
            </a:r>
            <a:r>
              <a:rPr lang="en-US" sz="1600" dirty="0">
                <a:solidFill>
                  <a:srgbClr val="4A5568"/>
                </a:solidFill>
              </a:rPr>
              <a:t>comment fabriquer un sceau que tout le monde peut VOIR mais que personne ne peut IMITER 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8"/>
                </a:solidFill>
              </a:rPr>
              <a:t>ICT-321  |  Intervention n°5 : identités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: JSON Web Token, la carte en trois parties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D9453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HEADER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08960" y="114300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431"/>
                </a:solidFill>
              </a:rPr>
              <a:t>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337560" y="114300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7B5EA7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3337560" y="1143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PAYLOAD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89320" y="114300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431"/>
                </a:solidFill>
              </a:rPr>
              <a:t>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2A7FB8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0" name="Text 8"/>
          <p:cNvSpPr/>
          <p:nvPr/>
        </p:nvSpPr>
        <p:spPr>
          <a:xfrm>
            <a:off x="6217920" y="1143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SIGNATURE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C2431"/>
                </a:solidFill>
              </a:rPr>
              <a:t>Le type de carte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algorithme de signature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{ "alg": "HS256",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  "typ": "JWT" 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01168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C2431"/>
                </a:solidFill>
              </a:rPr>
              <a:t>Le contenu (claims)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identité, rôle, expiration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{ "utilisateur": "jvermot",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  "role": "employe",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  "exp": 1783630950 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01168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C2431"/>
                </a:solidFill>
              </a:rPr>
              <a:t>Le sceau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empreinte calculée avec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un SECRET connu du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</a:rPr>
              <a:t>serveur seul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</a:rPr>
              <a:t>Chaque partie est encodée en Base64url, séparée par des points : </a:t>
            </a:r>
            <a:r>
              <a:rPr lang="en-US" sz="1400" b="1" dirty="0">
                <a:solidFill>
                  <a:srgbClr val="1C24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xxxxx.yyyyy.zzzzz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372B"/>
                </a:solidFill>
              </a:rPr>
              <a:t>Base64 = un ENCODAGE (lisible par tous), PAS un chiffrement. À ne jamais confondre.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8"/>
                </a:solidFill>
              </a:rPr>
              <a:t>ICT-321  |  Intervention n°5 : identités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Décodage en direct : ouvrons cette carte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1234440"/>
          </a:xfrm>
          <a:prstGeom prst="roundRect">
            <a:avLst>
              <a:gd name="adj" fmla="val 3704"/>
            </a:avLst>
          </a:prstGeom>
          <a:solidFill>
            <a:srgbClr val="232B38"/>
          </a:solidFill>
          <a:ln w="12700">
            <a:solidFill>
              <a:srgbClr val="232B38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eyJhbGciOiJIUzI1NiIsInR5cCI6IkpXVCJ9.eyJ1dGlsaXNhdGV1ciI6Imp2ZXJtb3QiLCJyb2xlI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joiZW1wbG95ZSIsImlhdCI6MTc4MzYwMjE1MCwiZXhwIjoxNzgzNjMwOTUwfQ.TPRPhPaVot-lHQaK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SMTjDG7gox2MGaI287nSUk_nPuo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431"/>
                </a:solidFill>
              </a:rPr>
              <a:t>Console du navigateur (F12), puis...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232B38"/>
          </a:solidFill>
          <a:ln w="12700">
            <a:solidFill>
              <a:srgbClr val="232B38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atob('eyJ1dGlsaXNhdGV1ciI6...')   // la 2e partie (payload)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7BD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{"utilisateur":"jvermot","role":"employe","iat":...,"exp":...}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372B"/>
                </a:solidFill>
              </a:rPr>
              <a:t>Tout le monde peut LIRE un JWT. Donc : jamais de mot de passe, jamais de donnée sensible dans le payload.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8"/>
                </a:solidFill>
              </a:rPr>
              <a:t>ICT-321  |  Intervention n°5 : identités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sceau : lisible par tous, imitable par personne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232B38"/>
          </a:solidFill>
          <a:ln w="12700">
            <a:solidFill>
              <a:srgbClr val="232B38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4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 = HMAC-SHA256( header + "." + payload,  SECRET 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C2431"/>
                </a:solidFill>
              </a:rPr>
              <a:t>Le SECRET ne quitte JAMAIS le serveur.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Quiconque modifie une seule lettre du payload (role: "employe" -&gt; "directeur") obtient une signature qui ne correspond plus : carte rejetée.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568"/>
                </a:solidFill>
              </a:rPr>
              <a:t>Vérifier = recalculer la signature et comparer. C'est tout, et c'est imparable.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0" y="21031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DEEEC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7" name="Shape 5"/>
          <p:cNvSpPr/>
          <p:nvPr/>
        </p:nvSpPr>
        <p:spPr>
          <a:xfrm>
            <a:off x="6016752" y="247802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8" name="Text 6"/>
          <p:cNvSpPr/>
          <p:nvPr/>
        </p:nvSpPr>
        <p:spPr>
          <a:xfrm>
            <a:off x="6355080" y="21762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B3372B"/>
                </a:solidFill>
              </a:rPr>
              <a:t>role : directeur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626157"/>
            <a:ext cx="21945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signature : INVALIDE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2461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EDF7F0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1" name="Shape 9"/>
          <p:cNvSpPr/>
          <p:nvPr/>
        </p:nvSpPr>
        <p:spPr>
          <a:xfrm>
            <a:off x="6016752" y="362102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2" name="Text 10"/>
          <p:cNvSpPr/>
          <p:nvPr/>
        </p:nvSpPr>
        <p:spPr>
          <a:xfrm>
            <a:off x="6355080" y="33192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2E7D4F"/>
                </a:solidFill>
              </a:rPr>
              <a:t>role : employé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55080" y="3769157"/>
            <a:ext cx="219456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signature : valide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8"/>
                </a:solidFill>
              </a:rPr>
              <a:t>ICT-321  |  Intervention n°5 : identités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: les trois règles d'or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4" name="Shape 2"/>
          <p:cNvSpPr/>
          <p:nvPr/>
        </p:nvSpPr>
        <p:spPr>
          <a:xfrm>
            <a:off x="621792" y="151790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Text 3"/>
          <p:cNvSpPr/>
          <p:nvPr/>
        </p:nvSpPr>
        <p:spPr>
          <a:xfrm>
            <a:off x="960120" y="126187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1.  Le payload est PUBLIC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66420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Jamais de mot de passe, de secret ou de donnée sensible dedans. Base64 se lit en une commande.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8" name="Shape 6"/>
          <p:cNvSpPr/>
          <p:nvPr/>
        </p:nvSpPr>
        <p:spPr>
          <a:xfrm>
            <a:off x="621792" y="261518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9" name="Text 7"/>
          <p:cNvSpPr/>
          <p:nvPr/>
        </p:nvSpPr>
        <p:spPr>
          <a:xfrm>
            <a:off x="960120" y="2359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2.  Un jeton EXPIRE (claim exp)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76148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Une carte volée ne doit pas être éternelle. Durée courte + renouvellement.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1F5FB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2" name="Shape 10"/>
          <p:cNvSpPr/>
          <p:nvPr/>
        </p:nvSpPr>
        <p:spPr>
          <a:xfrm>
            <a:off x="621792" y="371246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3" name="Text 11"/>
          <p:cNvSpPr/>
          <p:nvPr/>
        </p:nvSpPr>
        <p:spPr>
          <a:xfrm>
            <a:off x="960120" y="345643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3.  On vérifie la signature à CHAQUE requête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85876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Le serveur ne fait jamais confiance au contenu sans avoir validé le sceau. Jamais.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8"/>
                </a:solidFill>
              </a:rPr>
              <a:t>ICT-321  |  Intervention n°5 : identités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: protéger un endpoint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200400"/>
          </a:xfrm>
          <a:prstGeom prst="roundRect">
            <a:avLst>
              <a:gd name="adj" fmla="val 1429"/>
            </a:avLst>
          </a:prstGeom>
          <a:solidFill>
            <a:srgbClr val="232B38"/>
          </a:solidFill>
          <a:ln w="12700">
            <a:solidFill>
              <a:srgbClr val="232B38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7955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jwt = require('jsonwebtoken');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7BD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Au login réussi : délivrer la carte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token = jwt.sign({ utilisateur, role }, SECRET, { expiresIn: '8h' });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7BD8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À chaque requête protégée : vérifier le sceau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verifierJeton(req, res, next) {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(req.headers.authorization || '').replace('Bearer ', '');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 req.utilisateur = jwt.verify(token, SECRET); next(); }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catch { res.status(401).json({ erreur: 'Jeton absent, invalide ou expiré' }); }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app.get('/api/protege', verifierJeton, (req, res) =&gt; { ... });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client envoie la carte dans un en-tête :  Authorization: Bearer &lt;token&gt;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8"/>
                </a:solidFill>
              </a:rPr>
              <a:t>ICT-321  |  Intervention n°5 : identités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Se connecter avec Google » : l'histoire à trois personnages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1F5FB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4" name="Shape 2"/>
          <p:cNvSpPr/>
          <p:nvPr/>
        </p:nvSpPr>
        <p:spPr>
          <a:xfrm>
            <a:off x="621792" y="154076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5" name="Text 3"/>
          <p:cNvSpPr/>
          <p:nvPr/>
        </p:nvSpPr>
        <p:spPr>
          <a:xfrm>
            <a:off x="960120" y="1216152"/>
            <a:ext cx="20116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L'Internaute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689811"/>
            <a:ext cx="201168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veut utiliser l'application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sans créer un énième compte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1430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1F5FB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8" name="Shape 6"/>
          <p:cNvSpPr/>
          <p:nvPr/>
        </p:nvSpPr>
        <p:spPr>
          <a:xfrm>
            <a:off x="3410712" y="154076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9" name="Text 7"/>
          <p:cNvSpPr/>
          <p:nvPr/>
        </p:nvSpPr>
        <p:spPr>
          <a:xfrm>
            <a:off x="3749040" y="1216152"/>
            <a:ext cx="20116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L'Application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1689811"/>
            <a:ext cx="201168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veut savoir qui il est,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sans voir son mot de passe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1430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6E3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12" name="Shape 10"/>
          <p:cNvSpPr/>
          <p:nvPr/>
        </p:nvSpPr>
        <p:spPr>
          <a:xfrm>
            <a:off x="6199632" y="154076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3" name="Text 11"/>
          <p:cNvSpPr/>
          <p:nvPr/>
        </p:nvSpPr>
        <p:spPr>
          <a:xfrm>
            <a:off x="6537960" y="1216152"/>
            <a:ext cx="20116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Le Portier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1689811"/>
            <a:ext cx="201168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Google, ou... Keycloak 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lui seul vérifie les identités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E0A526"/>
                </a:solidFill>
              </a:rPr>
              <a:t>1.  </a:t>
            </a:r>
            <a:r>
              <a:rPr lang="en-US" sz="1400" dirty="0">
                <a:solidFill>
                  <a:srgbClr val="4A5568"/>
                </a:solidFill>
              </a:rPr>
              <a:t>L'Application envoie l'Internaute chez le Portier (« allez vous faire reconnaître »).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E0A526"/>
                </a:solidFill>
              </a:rPr>
              <a:t>2.  </a:t>
            </a:r>
            <a:r>
              <a:rPr lang="en-US" sz="1400" dirty="0">
                <a:solidFill>
                  <a:srgbClr val="4A5568"/>
                </a:solidFill>
              </a:rPr>
              <a:t>L'Internaute montre son mot de passe AU PORTIER SEUL, jamais à l'Application.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E0A526"/>
                </a:solidFill>
              </a:rPr>
              <a:t>3.  </a:t>
            </a:r>
            <a:r>
              <a:rPr lang="en-US" sz="1400" dirty="0">
                <a:solidFill>
                  <a:srgbClr val="4A5568"/>
                </a:solidFill>
              </a:rPr>
              <a:t>Le Portier renvoie l'Internaute avec un laissez-passer signé (des jetons !).</a:t>
            </a:r>
            <a:endParaRPr lang="en-US" sz="14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E0A526"/>
                </a:solidFill>
              </a:rPr>
              <a:t>4.  </a:t>
            </a:r>
            <a:r>
              <a:rPr lang="en-US" sz="1400" dirty="0">
                <a:solidFill>
                  <a:srgbClr val="4A5568"/>
                </a:solidFill>
              </a:rPr>
              <a:t>L'Application vérifie le sceau du Portier : elle sait QUI est là, sans avoir vu le secret.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C'est le protocole OAuth 2.0 : déléguer l'authentification à un tiers de confiance.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8"/>
                </a:solidFill>
              </a:rPr>
              <a:t>ICT-321  |  Intervention n°5 : identités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OpenID Connect : OAuth2 + carte d'identité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1C2431"/>
                </a:solidFill>
              </a:rPr>
              <a:t>OAuth 2.0 </a:t>
            </a:r>
            <a:r>
              <a:rPr lang="en-US" sz="1600" dirty="0">
                <a:solidFill>
                  <a:srgbClr val="4A5568"/>
                </a:solidFill>
              </a:rPr>
              <a:t>répond à : « cette application peut-elle agir au nom de l'utilisateur ? » (autorisation déléguée).</a:t>
            </a: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1C2431"/>
                </a:solidFill>
              </a:rPr>
              <a:t>OpenID Connect (OIDC) </a:t>
            </a:r>
            <a:r>
              <a:rPr lang="en-US" sz="1600" dirty="0">
                <a:solidFill>
                  <a:srgbClr val="4A5568"/>
                </a:solidFill>
              </a:rPr>
              <a:t>ajoute la question : « et QUI est cet utilisateur ? » en délivrant un id_token...</a:t>
            </a:r>
            <a:endParaRPr lang="en-US" sz="16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E0A526"/>
                </a:solidFill>
              </a:rPr>
              <a:t>... qui est un JWT ! </a:t>
            </a:r>
            <a:r>
              <a:rPr lang="en-US" sz="1600" dirty="0">
                <a:solidFill>
                  <a:srgbClr val="4A5568"/>
                </a:solidFill>
              </a:rPr>
              <a:t>La boucle est bouclée : tout ce qu'on vient d'apprendre s'applique.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011680" y="3200400"/>
            <a:ext cx="5120640" cy="1097280"/>
          </a:xfrm>
          <a:prstGeom prst="roundRect">
            <a:avLst>
              <a:gd name="adj" fmla="val 6667"/>
            </a:avLst>
          </a:prstGeom>
          <a:solidFill>
            <a:srgbClr val="FFF6E3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5" name="Shape 3"/>
          <p:cNvSpPr/>
          <p:nvPr/>
        </p:nvSpPr>
        <p:spPr>
          <a:xfrm>
            <a:off x="2176272" y="362102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6" name="Text 4"/>
          <p:cNvSpPr/>
          <p:nvPr/>
        </p:nvSpPr>
        <p:spPr>
          <a:xfrm>
            <a:off x="2514600" y="32735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id_token = JWT signé par le Portier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14600" y="3770986"/>
            <a:ext cx="44805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header.payload.signature, avec l'identité dans les claims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8"/>
                </a:solidFill>
              </a:rPr>
              <a:t>ICT-321  |  Intervention n°5 : identités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règle d'or du métier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3372B"/>
                </a:solidFill>
              </a:rPr>
              <a:t>On n'écrit JAMAIS son propre serveur d'authentification.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</a:rPr>
              <a:t>Stockage sécurisé des mots de passe, protection contre la force brute, réinitialisation, double facteur, fédération, sessions, révocation... </a:t>
            </a:r>
            <a:r>
              <a:rPr lang="en-US" sz="1500" b="1" dirty="0">
                <a:solidFill>
                  <a:srgbClr val="1C2431"/>
                </a:solidFill>
              </a:rPr>
              <a:t>des années de travail, et une seule erreur suffit.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C'est une CATÉGORIE DE COMPOSANT DE SYSTÈME : la gestion des identités. On CONNECTE un composant fini.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68880" y="356616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6E3"/>
          </a:solidFill>
          <a:ln w="12700">
            <a:solidFill>
              <a:srgbClr val="C6CEDA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CH"/>
          </a:p>
        </p:txBody>
      </p:sp>
      <p:sp>
        <p:nvSpPr>
          <p:cNvPr id="7" name="Shape 5"/>
          <p:cNvSpPr/>
          <p:nvPr/>
        </p:nvSpPr>
        <p:spPr>
          <a:xfrm>
            <a:off x="2633472" y="3895344"/>
            <a:ext cx="256032" cy="256032"/>
          </a:xfrm>
          <a:prstGeom prst="ellipse">
            <a:avLst/>
          </a:prstGeom>
          <a:solidFill>
            <a:srgbClr val="E0A5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8" name="Text 6"/>
          <p:cNvSpPr/>
          <p:nvPr/>
        </p:nvSpPr>
        <p:spPr>
          <a:xfrm>
            <a:off x="2971800" y="36393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C2431"/>
                </a:solidFill>
              </a:rPr>
              <a:t>Semaine prochaine : Keycloak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971800" y="40416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le Portier professionnel, dans notre Compose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8"/>
                </a:solidFill>
              </a:rPr>
              <a:t>ICT-321  |  Intervention n°5 : identités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qu'il faut retenir (aussi pour le TE 2...)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Authentification (qui ? -&gt; 401) et autorisation (quels droits ? -&gt; 403) : deux questions distinctes.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JWT = header.payload.signature, en Base64url : lisible par tous, falsifiable par personne.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La signature = empreinte calculée avec un secret que seul le serveur connaît.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Payload public, expiration obligatoire, vérification à chaque requête.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OAuth2 : déléguer au Portier. OIDC : le Portier délivre en plus une carte d'identité (un JWT).</a:t>
            </a:r>
            <a:endParaRPr lang="en-US" sz="1500" dirty="0"/>
          </a:p>
          <a:p>
            <a:pPr marL="342900" indent="-342900">
              <a:lnSpc>
                <a:spcPts val="2700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</a:rPr>
              <a:t>On n'écrit jamais son serveur d'authentification : on connecte un composant fini.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AB8"/>
                </a:solidFill>
              </a:rPr>
              <a:t>ICT-321  |  Intervention n°5 : identités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4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Travail écrit n°1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94360" y="196596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D8DEE8"/>
                </a:solidFill>
              </a:rPr>
              <a:t>Matière : séances 1 à 4 (architectures, REST, conteneurs, persistance)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D8DEE8"/>
                </a:solidFill>
              </a:rPr>
              <a:t>60 minutes (90 avec mesures compensatoires)  |  40 points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D8DEE8"/>
                </a:solidFill>
              </a:rPr>
              <a:t>Aucun support, aucun appareil : tout sort de votre tête</a:t>
            </a:r>
            <a:endParaRPr lang="en-US" sz="17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700" dirty="0">
                <a:solidFill>
                  <a:srgbClr val="D8DEE8"/>
                </a:solidFill>
              </a:rPr>
              <a:t>Répondez directement sur le sujet, justifiez quand c'est demandé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4360" y="3931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A526"/>
                </a:solidFill>
              </a:rPr>
              <a:t>Rangez tout. Bonne chance : vous avez construit tout ce qui s'y trouve.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4A6"/>
                </a:solidFill>
              </a:rPr>
              <a:t>ICT-321  |  Intervention n°5 : identités  | 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1449</Words>
  <Application>Microsoft Office PowerPoint</Application>
  <PresentationFormat>Affichage à l'écran (16:9)</PresentationFormat>
  <Paragraphs>170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ICT-321 - Authentification et autorisation</dc:title>
  <dc:subject>PptxGenJS Presentation</dc:subject>
  <dc:creator>Marc Bedaux</dc:creator>
  <cp:lastModifiedBy>Marc Bedaux</cp:lastModifiedBy>
  <cp:revision>2</cp:revision>
  <dcterms:created xsi:type="dcterms:W3CDTF">2026-07-09T13:05:29Z</dcterms:created>
  <dcterms:modified xsi:type="dcterms:W3CDTF">2026-09-14T07:40:27Z</dcterms:modified>
</cp:coreProperties>
</file>